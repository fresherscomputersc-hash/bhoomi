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400">
                <a:latin typeface="Arial"/>
              </a:rPr>
              <a:t>Problem Statement ID SIH26018</a:t>
            </a:r>
            <a:endParaRPr lang="en-US" dirty="0"/>
          </a:p>
          <a:p>
            <a:pPr/>
            <a:r>
              <a:rPr sz="2400">
                <a:latin typeface="Arial"/>
              </a:rPr>
              <a:t>Problem Statement Title - BhuVerify: Intelligent Land Record Digitization and Validation System</a:t>
            </a:r>
          </a:p>
          <a:p>
            <a:pPr/>
            <a:r>
              <a:rPr sz="2400">
                <a:latin typeface="Arial"/>
              </a:rPr>
              <a:t>Theme - Smart Automation</a:t>
            </a:r>
          </a:p>
          <a:p>
            <a:pPr/>
            <a:r>
              <a:rPr sz="2400">
                <a:latin typeface="Arial"/>
              </a:rPr>
              <a:t>PS Category - Software</a:t>
            </a:r>
          </a:p>
          <a:p>
            <a:pPr/>
            <a:r>
              <a:rPr sz="2400">
                <a:latin typeface="Arial"/>
              </a:rPr>
              <a:t>Team ID -</a:t>
            </a:r>
          </a:p>
          <a:p>
            <a:pPr/>
            <a:r>
              <a:rPr sz="2400">
                <a:latin typeface="Arial"/>
              </a:rPr>
              <a:t>Team Shadow Slayers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3600">
                <a:latin typeface="Times New Roman"/>
              </a:rPr>
              <a:t>BhuVerify: Intelligent Land Record Digitization &amp; Validation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1800" b="1"/>
              <a:t>What it is: </a:t>
            </a:r>
            <a:r>
              <a:rPr sz="1800" b="0"/>
              <a:t>converts scanned registers, handwritten pages, PDFs and cadastral maps into structured, validated, GIS-linked digital records.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/>
            <a:r>
              <a:rPr sz="1800" b="1"/>
              <a:t>How it works: </a:t>
            </a:r>
            <a:r>
              <a:rPr sz="1800" b="0"/>
              <a:t>CV preprocessing → OCR/HTR with word confidence → 17-field extraction (6 doc profiles) → confidence fusion → GIS linking → ten business rules BR-1…BR-10 → cross-database checks.</a:t>
            </a:r>
          </a:p>
          <a:p>
            <a:pPr/>
            <a:r>
              <a:rPr sz="1800" b="1"/>
              <a:t>Human in command: </a:t>
            </a:r>
            <a:r>
              <a:rPr sz="1800" b="0"/>
              <a:t>a government reviewer holds final authority; approval is server-refused (HTTP 409) while critical findings are open.</a:t>
            </a:r>
          </a:p>
          <a:p>
            <a:pPr/>
            <a:r>
              <a:rPr sz="1800" b="1"/>
              <a:t>No hallucinations: </a:t>
            </a:r>
            <a:r>
              <a:rPr sz="1800" b="0"/>
              <a:t>anti-hallucination contracts (plot 417 is not a khasra; khatiyan 18 is not a khata); every AI output audit-logged in a SHA-256 hash chain.</a:t>
            </a:r>
          </a:p>
          <a:p>
            <a:pPr/>
            <a:r>
              <a:rPr sz="1800" b="1"/>
              <a:t>Proven, not claimed: </a:t>
            </a:r>
            <a:r>
              <a:rPr sz="1800" b="0"/>
              <a:t>165 tests green, 26 documents exercised, 15/15 byte-identical reruns, 36.8% field accuracy on an adversarial set — all routed to review, zero crashes.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Shadow Slayers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800" b="1"/>
              <a:t>Stack: </a:t>
            </a:r>
            <a:r>
              <a:rPr sz="1800" b="0"/>
              <a:t>FastAPI · SQLAlchemy · OpenCV · Tesseract 5.5 (eng+hin+ori) · Shapely · rapidfuzz · argon2; vanilla JS, no build step, runs network-isolated.</a:t>
            </a:r>
          </a:p>
          <a:p>
            <a:pPr/>
            <a:r>
              <a:rPr sz="1800" b="1"/>
              <a:t>Pilot AI tier (flag-gated): </a:t>
            </a:r>
            <a:r>
              <a:rPr sz="1800" b="0"/>
              <a:t>Groq LLM (gpt-oss-120b), spaCy NER, HF transformers (XLM-R) as verifiers that never overwrite trusted values.</a:t>
            </a:r>
          </a:p>
          <a:p>
            <a:pPr/>
            <a:r>
              <a:rPr sz="1800" b="1"/>
              <a:t>Method: </a:t>
            </a:r>
            <a:r>
              <a:rPr sz="1800" b="0"/>
              <a:t>upload → deskew/denoise/layout → script-routed OCR (39-A→Oriya, Hindi belt→Hindi) → label-alias + regex extraction → 0.45/0.30/0.15/0.10 confidence fusion.</a:t>
            </a:r>
          </a:p>
          <a:p>
            <a:pPr/>
            <a:r>
              <a:rPr sz="1800" b="1"/>
              <a:t>Validation: </a:t>
            </a:r>
            <a:r>
              <a:rPr sz="1800" b="0"/>
              <a:t>BR-1…BR-10, duplicate detection, Bhulekh/BhuNaksha/IGR/LGD/LRMS adapters (mocked now, live-ready contracts).</a:t>
            </a:r>
          </a:p>
          <a:p>
            <a:pPr/>
            <a:r>
              <a:rPr sz="1800" b="1"/>
              <a:t>Growth path: </a:t>
            </a:r>
            <a:r>
              <a:rPr sz="1800" b="0"/>
              <a:t>SQLite→PostGIS, Tesseract→TrOCR/IndicHTR, OpenCV→YOLO/Detectron2 — same interfaces, no rewrites.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Shadow Slayers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800" b="1"/>
              <a:t>Proven feasible: </a:t>
            </a:r>
            <a:r>
              <a:rPr sz="1800" b="0"/>
              <a:t>165 tests (168 on EC2) green; 26 docs incl. 5 real Bhulekh RoRs; Tesseract 5.5 verified with hin/ori packs.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/>
            <a:r>
              <a:rPr sz="1800" b="1"/>
              <a:t>Measured: </a:t>
            </a:r>
            <a:r>
              <a:rPr sz="1800" b="0"/>
              <a:t>79–84% OCR on real scans; validation &lt; 1 s/record; 15–127 s/doc on a 2-vCPU box (10 s budget needs production hardware).</a:t>
            </a:r>
          </a:p>
          <a:p>
            <a:pPr/>
            <a:r>
              <a:rPr sz="1800" b="1"/>
              <a:t>Risk — garbled OCR: </a:t>
            </a:r>
            <a:r>
              <a:rPr sz="1800" b="0"/>
              <a:t>script-routed second pass + confidence bands; anything &lt; 70% goes to mandatory human review.</a:t>
            </a:r>
          </a:p>
          <a:p>
            <a:pPr/>
            <a:r>
              <a:rPr sz="1800" b="1"/>
              <a:t>Risk — invented data: </a:t>
            </a:r>
            <a:r>
              <a:rPr sz="1800" b="0"/>
              <a:t>prohibited-field contracts per doc type; reviewers, never the AI, close a record.</a:t>
            </a:r>
          </a:p>
          <a:p>
            <a:pPr/>
            <a:r>
              <a:rPr sz="1800" b="1"/>
              <a:t>Risk — privacy: </a:t>
            </a:r>
            <a:r>
              <a:rPr sz="1800" b="0"/>
              <a:t>decision support only — no ownership changes, no write-back to government systems without approval.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Shadow Slayers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800" b="1"/>
              <a:t>Revenue officers: </a:t>
            </a:r>
            <a:r>
              <a:rPr sz="1800" b="0"/>
              <a:t>reviewer queue, one-click corrections captured as training data, approve/reject/escalate with full evidence.</a:t>
            </a:r>
          </a:p>
          <a:p>
            <a:pPr/>
            <a:r>
              <a:rPr sz="1800" b="1"/>
              <a:t>Auditors &amp; supervisors: </a:t>
            </a:r>
            <a:r>
              <a:rPr sz="1800" b="0"/>
              <a:t>tamper-evident hash-chained trail with re-verify, MIS dashboard (accuracy, pendency, error stats, state-wise progress) plus CSV export.</a:t>
            </a:r>
          </a:p>
          <a:p>
            <a:pPr/>
            <a:r>
              <a:rPr sz="1800" b="1"/>
              <a:t>Administration: </a:t>
            </a:r>
            <a:r>
              <a:rPr sz="1800" b="0"/>
              <a:t>digitization % and review-completion tracked live; discrepancies flagged, never silently resolved.</a:t>
            </a:r>
          </a:p>
          <a:p>
            <a:pPr/>
            <a:r>
              <a:rPr sz="1800" b="1"/>
              <a:t>Governance: </a:t>
            </a:r>
            <a:r>
              <a:rPr sz="1800" b="0"/>
              <a:t>reliable digital records from legacy pages; transparent, data-driven land administration.</a:t>
            </a:r>
          </a:p>
          <a:p>
            <a:pPr/>
            <a:r>
              <a:rPr sz="1800" b="1"/>
              <a:t>Reach: </a:t>
            </a:r>
            <a:r>
              <a:rPr sz="1800" b="0"/>
              <a:t>Odisha 39-A, UP Khatauni, MP Khasra, Bihar Khatiyan profiles live; more states plug into the same profile system.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Shadow Slayers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800" b="1"/>
              <a:t>OCR &amp; language: </a:t>
            </a:r>
            <a:r>
              <a:rPr sz="1800" b="0"/>
              <a:t>Tesseract 5.5; spaCy NER; Hugging Face transformers (XLM-R, TrOCR); Indic language packs.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/>
            <a:r>
              <a:rPr sz="1800" b="1"/>
              <a:t>Vision &amp; GIS roadmap: </a:t>
            </a:r>
            <a:r>
              <a:rPr sz="1800" b="0"/>
              <a:t>YOLO / Detectron2 for layout; GeoServer + PostGIS for cadastral serving.</a:t>
            </a:r>
          </a:p>
          <a:p>
            <a:pPr/>
            <a:r>
              <a:rPr sz="1800" b="1"/>
              <a:t>Government systems: </a:t>
            </a:r>
            <a:r>
              <a:rPr sz="1800" b="0"/>
              <a:t>Bhulekh, BhuNaksha, IGR, LGD, DILRMP, LRMS — adapters contracted, awaiting live endpoints.</a:t>
            </a:r>
          </a:p>
          <a:p>
            <a:pPr/>
            <a:r>
              <a:rPr sz="1800" b="1"/>
              <a:t>Statement &amp; code: </a:t>
            </a:r>
            <a:r>
              <a:rPr sz="1800" b="0"/>
              <a:t>SIH26018, Ministry of Rural Development; repo: https://github.com/fresherscomputersc-hash/BHOOMI.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Shadow Slayers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