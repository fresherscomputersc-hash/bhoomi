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3840480"/>
            <a:ext cx="4572000" cy="320040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011680"/>
            <a:ext cx="54864" cy="384048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2A"/>
                </a:solidFill>
                <a:latin typeface="Calibri"/>
              </a:defRPr>
            </a:pPr>
            <a:r>
              <a:t>BHOOMI  ·  BhuVerify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2836"/>
                </a:solidFill>
                <a:latin typeface="Calibri"/>
              </a:defRPr>
            </a:pPr>
            <a:r>
              <a:t>Intelligent Land Record Digitization &amp; Validation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8686800" cy="82296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2836"/>
                </a:solidFill>
                <a:latin typeface="Calibri"/>
              </a:defRPr>
            </a:pPr>
            <a:r>
              <a:t>Problem Statement ID  SIH26018   ·   Theme: Smart Automation   ·   Category: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015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8084"/>
                </a:solidFill>
                <a:latin typeface="Calibri"/>
              </a:defRPr>
            </a:pPr>
            <a:r>
              <a:t>Converts scanned registers, handwritten pages, PDFs and cadastral maps into structured, validated, GIS-linked digital records — with government reviewers holding final authority.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480560"/>
            <a:ext cx="822960" cy="822960"/>
          </a:xfrm>
          <a:prstGeom prst="ellipse">
            <a:avLst/>
          </a:prstGeom>
          <a:solidFill>
            <a:srgbClr val="0F2836"/>
          </a:solidFill>
          <a:ln w="1270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81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LEGACY</a:t>
            </a:r>
            <a:br/>
            <a:r>
              <a:t>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20" y="4837176"/>
            <a:ext cx="640080" cy="109728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77440" y="4892040"/>
            <a:ext cx="201168" cy="201168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54406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8084"/>
                </a:solidFill>
                <a:latin typeface="Calibri"/>
              </a:defRPr>
            </a:pPr>
            <a:r>
              <a:t>Scanned / Handwritten / PDF / Image</a:t>
            </a:r>
          </a:p>
        </p:txBody>
      </p:sp>
      <p:sp>
        <p:nvSpPr>
          <p:cNvPr id="16" name="Oval 15"/>
          <p:cNvSpPr/>
          <p:nvPr/>
        </p:nvSpPr>
        <p:spPr>
          <a:xfrm>
            <a:off x="4480560" y="4480560"/>
            <a:ext cx="822960" cy="822960"/>
          </a:xfrm>
          <a:prstGeom prst="ellipse">
            <a:avLst/>
          </a:prstGeom>
          <a:solidFill>
            <a:srgbClr val="1B3A2A"/>
          </a:solidFill>
          <a:ln w="1270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681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BHOOMI</a:t>
            </a:r>
            <a:br/>
            <a:r>
              <a:t>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4837176"/>
            <a:ext cx="640080" cy="109728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4892040"/>
            <a:ext cx="201168" cy="201168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54406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8084"/>
                </a:solidFill>
                <a:latin typeface="Calibri"/>
              </a:defRPr>
            </a:pPr>
            <a:r>
              <a:t>AI OCR · Validation · GIS · Audit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0" y="4480560"/>
            <a:ext cx="822960" cy="822960"/>
          </a:xfrm>
          <a:prstGeom prst="ellipse">
            <a:avLst/>
          </a:prstGeom>
          <a:solidFill>
            <a:srgbClr val="2E7D4B"/>
          </a:solidFill>
          <a:ln w="1270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681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VERIFIED</a:t>
            </a:r>
            <a:br/>
            <a:r>
              <a:t>DIGITAL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54406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8084"/>
                </a:solidFill>
                <a:latin typeface="Calibri"/>
              </a:defRPr>
            </a:pPr>
            <a:r>
              <a:t>Structured · Searchable · Auditable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8084"/>
                </a:solidFill>
                <a:latin typeface="Calibri"/>
              </a:defRPr>
            </a:pPr>
            <a:r>
              <a:t>Team Shadow Slayers  ·  Ministry of Rural Development  ·  Repository: github.com/fresherscomputersc-hash/BHOOMI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89920" y="1737360"/>
            <a:ext cx="1143000" cy="320040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18288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SIH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PROPOSED SOLUTION  ·  IDEA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754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D7D0"/>
                </a:solidFill>
                <a:latin typeface="Calibri"/>
              </a:defRPr>
            </a:pPr>
            <a:r>
              <a:t>What BHOOMI does · How it transforms legacy land records · Key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EC8C3"/>
                </a:solidFill>
                <a:latin typeface="Calibri"/>
              </a:defRPr>
            </a:pPr>
            <a:r>
              <a:t>SIH 2026  ·  SIH26018  ·  Smart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960120"/>
            <a:ext cx="11567160" cy="534924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2377440" cy="841248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54864" cy="8412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SCANNED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D2CD"/>
                </a:solidFill>
                <a:latin typeface="Calibri"/>
              </a:defRPr>
            </a:pPr>
            <a:r>
              <a:t>Odisha 39-A, UP Khatauni, MP Khasra, Bihar Khatiyan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85416"/>
            <a:ext cx="2377440" cy="841248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85416"/>
            <a:ext cx="54864" cy="8412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7685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HANDWRITTEN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96896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D2CD"/>
                </a:solidFill>
                <a:latin typeface="Calibri"/>
              </a:defRPr>
            </a:pPr>
            <a:r>
              <a:t>Hindi · Odia · English mixed-script pages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36392"/>
            <a:ext cx="2377440" cy="841248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36392"/>
            <a:ext cx="54864" cy="8412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2783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PDF /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4787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D2CD"/>
                </a:solidFill>
                <a:latin typeface="Calibri"/>
              </a:defRPr>
            </a:pPr>
            <a:r>
              <a:t>Multi-page documents, stamps, maps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87368"/>
            <a:ext cx="2377440" cy="841248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87368"/>
            <a:ext cx="54864" cy="8412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7880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CADASTRAL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988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D2CD"/>
                </a:solidFill>
                <a:latin typeface="Calibri"/>
              </a:defRPr>
            </a:pPr>
            <a:r>
              <a:t>GeoJSON parcel polygons, survey sheets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2A"/>
                </a:solidFill>
                <a:latin typeface="Calibri"/>
              </a:defRPr>
            </a:pPr>
            <a:r>
              <a:t>BHOOMI END-TO-END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16002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0" y="1600200"/>
            <a:ext cx="45720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1636776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DOCUMENT</a:t>
            </a:r>
            <a:br/>
            <a:r>
              <a:t>UPLOAD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1993392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PDF / Image / Scan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28032" y="1993392"/>
            <a:ext cx="27432" cy="10058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0" y="210312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2103120"/>
            <a:ext cx="45720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2139696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CV PREPROCESS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2496312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Deskew · Denoise · CLAHE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8032" y="2496312"/>
            <a:ext cx="27432" cy="10058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0" y="260604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2606040"/>
            <a:ext cx="45720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94760" y="2642616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OCR / HTR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2999232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Tesseract 5.5  ·  eng+hin+ori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28032" y="2999232"/>
            <a:ext cx="27432" cy="10058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657600" y="310896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0" y="3108960"/>
            <a:ext cx="45720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760" y="3145536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FIELD EXTRACTION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3502152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17 fields · 5 doc profiles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28032" y="3502152"/>
            <a:ext cx="27432" cy="10058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57600" y="361188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3611880"/>
            <a:ext cx="45720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94760" y="3648456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CONFIDENCE FUSION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4005072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0.45·OCR + 0.30·Pat + 0.15·Prox + 0.10·Cons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28032" y="4005072"/>
            <a:ext cx="27432" cy="10058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657600" y="41148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0" y="4114800"/>
            <a:ext cx="45720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94760" y="4151376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VALIDATION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03320" y="4507992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BR-1…BR-10 · GIS · Cross-DB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28032" y="4507992"/>
            <a:ext cx="27432" cy="10058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657600" y="461772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0" y="4617720"/>
            <a:ext cx="45720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4760" y="4654296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HUMAN 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03320" y="5010912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Approve / Reject / Escalate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28032" y="5010912"/>
            <a:ext cx="27432" cy="10058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657600" y="512064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57600" y="5120640"/>
            <a:ext cx="45720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4760" y="5157216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03320" y="5513832"/>
            <a:ext cx="23774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SHA-256 chain · Immutable</a:t>
            </a:r>
          </a:p>
        </p:txBody>
      </p:sp>
      <p:pic>
        <p:nvPicPr>
          <p:cNvPr id="64" name="Picture 63" descr="sample_01_ro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5989320"/>
            <a:ext cx="1463040" cy="6400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40480" y="656539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88084"/>
                </a:solidFill>
                <a:latin typeface="Calibri"/>
              </a:defRPr>
            </a:pPr>
            <a:r>
              <a:t>Real document: Odisha RoR  ·  Clean scan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0" y="1234440"/>
            <a:ext cx="3108960" cy="8686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583680" y="1234440"/>
            <a:ext cx="54864" cy="86868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66560" y="1307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A15F"/>
                </a:solidFill>
                <a:latin typeface="Calibri"/>
              </a:defRPr>
            </a:pPr>
            <a:r>
              <a:t>MULTILINGUAL OCR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English · Hindi · Odia  ·  Script-routed second pass (39-A → Oriya)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83680" y="2313432"/>
            <a:ext cx="3108960" cy="8686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83680" y="2313432"/>
            <a:ext cx="54864" cy="868680"/>
          </a:xfrm>
          <a:prstGeom prst="rect">
            <a:avLst/>
          </a:prstGeom>
          <a:solidFill>
            <a:srgbClr val="2E7D4B"/>
          </a:solidFill>
          <a:ln w="635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66560" y="23865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4B"/>
                </a:solidFill>
                <a:latin typeface="Calibri"/>
              </a:defRPr>
            </a:pPr>
            <a:r>
              <a:t>FIELD CONFIDENCE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2679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Per-word confidence · Fusion formula · Auto-review routing &lt; 70%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83680" y="3392424"/>
            <a:ext cx="3108960" cy="8686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83680" y="3392424"/>
            <a:ext cx="54864" cy="86868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66560" y="3465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2A"/>
                </a:solidFill>
                <a:latin typeface="Calibri"/>
              </a:defRPr>
            </a:pPr>
            <a:r>
              <a:t>GIS VERIFICATION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66560" y="37581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Cadastral polygon matching · Area reconciliation · Discrepancy BR-9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583680" y="4471416"/>
            <a:ext cx="3108960" cy="8686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3680" y="4471416"/>
            <a:ext cx="54864" cy="868680"/>
          </a:xfrm>
          <a:prstGeom prst="rect">
            <a:avLst/>
          </a:prstGeom>
          <a:solidFill>
            <a:srgbClr val="B4412D"/>
          </a:solidFill>
          <a:ln w="635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66560" y="4544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412D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6560" y="483717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Government reviewer holds final authority · HTTP 409 blocks approval with open findings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836"/>
                </a:solidFill>
                <a:latin typeface="Calibri"/>
              </a:defRPr>
            </a:pPr>
            <a:r>
              <a:t>NOT AN OCR WRAPPER — the complete value chain: Document → Intelligence → Validation → GIS → Human Review → Auditable Record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TECHNICAL APPROACH  ·  ARCHITECTURE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754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D7D0"/>
                </a:solidFill>
                <a:latin typeface="Calibri"/>
              </a:defRPr>
            </a:pPr>
            <a:r>
              <a:t>Native architecture diagram · AI pipeline · Real screenshots ·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EC8C3"/>
                </a:solidFill>
                <a:latin typeface="Calibri"/>
              </a:defRPr>
            </a:pPr>
            <a:r>
              <a:t>SIH 2026  ·  SIH26018  ·  Smart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2A"/>
                </a:solidFill>
                <a:latin typeface="Calibri"/>
              </a:defRPr>
            </a:pPr>
            <a:r>
              <a:t>BHOOMI 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23444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234440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930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490472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D2D7D2"/>
                </a:solidFill>
                <a:latin typeface="Calibri"/>
              </a:defRPr>
            </a:pPr>
            <a:r>
              <a:t>RoR · PATA · PDF · Image ·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95928" y="1746504"/>
            <a:ext cx="54864" cy="914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31920" y="1837944"/>
            <a:ext cx="182880" cy="182880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1801368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801368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185623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05740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D2D7D2"/>
                </a:solidFill>
                <a:latin typeface="Calibri"/>
              </a:defRPr>
            </a:pPr>
            <a:r>
              <a:t>Upload · Hashing · Dedup ·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95928" y="2313432"/>
            <a:ext cx="54864" cy="914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31920" y="2404872"/>
            <a:ext cx="182880" cy="182880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2368296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2368296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242316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DOCUMENT</a:t>
            </a:r>
            <a:br/>
            <a:r>
              <a:t>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6243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D2D7D2"/>
                </a:solidFill>
                <a:latin typeface="Calibri"/>
              </a:defRPr>
            </a:pPr>
            <a:r>
              <a:t>CV Preprocess · OCR/HTR · Layout · Extraction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95928" y="2880360"/>
            <a:ext cx="54864" cy="914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31920" y="2971800"/>
            <a:ext cx="182880" cy="182880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43200" y="2935224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2935224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29900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19125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D2D7D2"/>
                </a:solidFill>
                <a:latin typeface="Calibri"/>
              </a:defRPr>
            </a:pPr>
            <a:r>
              <a:t>BR-1…BR-10 · Confidence · Cross-DB · GIS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95928" y="3447288"/>
            <a:ext cx="54864" cy="914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931920" y="3538728"/>
            <a:ext cx="182880" cy="182880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0" y="3502152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3502152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355701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3758184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D2D7D2"/>
                </a:solidFill>
                <a:latin typeface="Calibri"/>
              </a:defRPr>
            </a:pPr>
            <a:r>
              <a:t>Government Official · Approve / Reject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95928" y="4014216"/>
            <a:ext cx="54864" cy="914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31920" y="4105656"/>
            <a:ext cx="182880" cy="182880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43200" y="406908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2E7D4B"/>
          </a:solidFill>
          <a:ln w="635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4069080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412394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325112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D2D7D2"/>
                </a:solidFill>
                <a:latin typeface="Calibri"/>
              </a:defRPr>
            </a:pPr>
            <a:r>
              <a:t>Verified Record · Audit Chain · MIS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1234440"/>
            <a:ext cx="2286000" cy="29260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1325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2A"/>
                </a:solidFill>
                <a:latin typeface="Calibri"/>
              </a:defRPr>
            </a:pPr>
            <a:r>
              <a:t>USER ROLES &amp; DATA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737360"/>
            <a:ext cx="2011680" cy="36576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179222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OPERATOR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18105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2D7D2"/>
                </a:solidFill>
                <a:latin typeface="Calibri"/>
              </a:defRPr>
            </a:pPr>
            <a:r>
              <a:t>Upload · Queue 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2240280"/>
            <a:ext cx="2011680" cy="36576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29514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REVIEWER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23134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2D7D2"/>
                </a:solidFill>
                <a:latin typeface="Calibri"/>
              </a:defRPr>
            </a:pPr>
            <a:r>
              <a:t>Correct · Approve · Block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2743200"/>
            <a:ext cx="2011680" cy="36576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7980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SUPERVISOR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8163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2D7D2"/>
                </a:solidFill>
                <a:latin typeface="Calibri"/>
              </a:defRPr>
            </a:pPr>
            <a:r>
              <a:t>Dashboard · Assign · Export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72200" y="3246120"/>
            <a:ext cx="2011680" cy="36576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30098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AUDITOR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331927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2D7D2"/>
                </a:solidFill>
                <a:latin typeface="Calibri"/>
              </a:defRPr>
            </a:pPr>
            <a:r>
              <a:t>Audit trail · Reports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41080" y="1417320"/>
            <a:ext cx="731520" cy="219456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41080" y="187451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SQLITE /</a:t>
            </a:r>
            <a:br/>
            <a:r>
              <a:t>POSTGRES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2377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C8D2CD"/>
                </a:solidFill>
                <a:latin typeface="Calibri"/>
              </a:defRPr>
            </a:pPr>
            <a:r>
              <a:t>14 Tables</a:t>
            </a:r>
            <a:br/>
            <a:r>
              <a:t>Audit Chain</a:t>
            </a:r>
            <a:br/>
            <a:r>
              <a:t>Record Store</a:t>
            </a:r>
            <a:br/>
            <a:r>
              <a:t>GIS Layer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155680" y="1234440"/>
            <a:ext cx="45720" cy="32918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01400" y="4617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BFA15F"/>
                </a:solidFill>
                <a:latin typeface="Calibri"/>
              </a:defRPr>
            </a:pPr>
            <a:r>
              <a:t>SECURITY</a:t>
            </a:r>
            <a:br/>
            <a:r>
              <a:t>RBAC · Argon2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2A"/>
                </a:solidFill>
                <a:latin typeface="Calibri"/>
              </a:defRPr>
            </a:pPr>
            <a:r>
              <a:t>AI DOCUMENT PROCESSING PIPELINE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4709160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5760" y="4709160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475488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DOCUMENT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230368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Scanned page / PDF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609344" y="4924044"/>
            <a:ext cx="164592" cy="73152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783080" y="4709160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83080" y="4709160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56232" y="475488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PREPROCESS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3080" y="5230368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OpenCV: deskew, denoise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26664" y="4924044"/>
            <a:ext cx="164592" cy="73152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200400" y="4709160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00400" y="4709160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73552" y="475488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LAYOUT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0400" y="5230368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Region detection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443984" y="4924044"/>
            <a:ext cx="164592" cy="73152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617720" y="4709160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617720" y="4709160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90872" y="475488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OCR / HTR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17720" y="5230368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Tesseract 5.5 · eng+hin+ori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861304" y="4924044"/>
            <a:ext cx="164592" cy="73152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035040" y="4709160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035040" y="4709160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08192" y="475488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EXTRACTION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5040" y="5230368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17 canonical fields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78624" y="4924044"/>
            <a:ext cx="164592" cy="73152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452360" y="4709160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0" y="4709160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25512" y="475488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CONFIDENCE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52360" y="5230368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Per-field scoring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695944" y="4924044"/>
            <a:ext cx="164592" cy="73152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869680" y="4709160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869680" y="4709160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42832" y="475488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69680" y="5230368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BR rules + GIS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113264" y="4924044"/>
            <a:ext cx="164592" cy="73152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287000" y="4709160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287000" y="4709160"/>
            <a:ext cx="45720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60152" y="475488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VERIFIED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87000" y="5230368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Auditable record</a:t>
            </a:r>
          </a:p>
        </p:txBody>
      </p:sp>
      <p:pic>
        <p:nvPicPr>
          <p:cNvPr id="101" name="Picture 100" descr="sample_01_ro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5349240"/>
            <a:ext cx="1737360" cy="96012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7498079" y="6327648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2836"/>
                </a:solidFill>
                <a:latin typeface="Calibri"/>
              </a:defRPr>
            </a:pPr>
            <a:r>
              <a:t>CLEAN SCAN — Real Odisha RoR</a:t>
            </a:r>
          </a:p>
        </p:txBody>
      </p:sp>
      <p:pic>
        <p:nvPicPr>
          <p:cNvPr id="103" name="Picture 102" descr="page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5349240"/>
            <a:ext cx="1828800" cy="96012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9281160" y="632764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2836"/>
                </a:solidFill>
                <a:latin typeface="Calibri"/>
              </a:defRPr>
            </a:pPr>
            <a:r>
              <a:t>ANNOTATED — OCR detection results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65760" y="6400800"/>
            <a:ext cx="1828800" cy="32004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64739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F2836"/>
                </a:solidFill>
                <a:latin typeface="Calibri"/>
              </a:defRPr>
            </a:pPr>
            <a:r>
              <a:t>FastAPI · SQLAlchemy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286000" y="6400800"/>
            <a:ext cx="1828800" cy="32004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377440" y="64739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F2836"/>
                </a:solidFill>
                <a:latin typeface="Calibri"/>
              </a:defRPr>
            </a:pPr>
            <a:r>
              <a:t>OpenCV · Tesseract 5.5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206240" y="6400800"/>
            <a:ext cx="1828800" cy="32004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97680" y="64739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F2836"/>
                </a:solidFill>
                <a:latin typeface="Calibri"/>
              </a:defRPr>
            </a:pPr>
            <a:r>
              <a:t>Shapely · rapidfuzz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26480" y="6400800"/>
            <a:ext cx="1828800" cy="32004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17920" y="64739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F2836"/>
                </a:solidFill>
                <a:latin typeface="Calibri"/>
              </a:defRPr>
            </a:pPr>
            <a:r>
              <a:t>spaCy · HF XLM-R (pilot)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046720" y="6400800"/>
            <a:ext cx="1828800" cy="32004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138160" y="64739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F2836"/>
                </a:solidFill>
                <a:latin typeface="Calibri"/>
              </a:defRPr>
            </a:pPr>
            <a:r>
              <a:t>Argon2 · RBAC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966960" y="6400800"/>
            <a:ext cx="1828800" cy="32004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58400" y="64739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F2836"/>
                </a:solidFill>
                <a:latin typeface="Calibri"/>
              </a:defRPr>
            </a:pPr>
            <a:r>
              <a:t>Vanilla JS · Inline SVG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FEASIBILITY &amp; VIABILITY  ·  EVIDENCE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754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D7D0"/>
                </a:solidFill>
                <a:latin typeface="Calibri"/>
              </a:defRPr>
            </a:pPr>
            <a:r>
              <a:t>Measured results · Real documents · Tested rules · Security ·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EC8C3"/>
                </a:solidFill>
                <a:latin typeface="Calibri"/>
              </a:defRPr>
            </a:pPr>
            <a:r>
              <a:t>SIH 2026  ·  SIH26018  ·  Smart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2A"/>
                </a:solidFill>
                <a:latin typeface="Calibri"/>
              </a:defRPr>
            </a:pPr>
            <a:r>
              <a:t>MEASURED EVIDENCE  · 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23444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73152" cy="685800"/>
          </a:xfrm>
          <a:prstGeom prst="rect">
            <a:avLst/>
          </a:prstGeom>
          <a:solidFill>
            <a:srgbClr val="2E7D4B"/>
          </a:solidFill>
          <a:ln w="635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4B"/>
                </a:solidFill>
                <a:latin typeface="Calibri"/>
              </a:defRPr>
            </a:pPr>
            <a:r>
              <a:t>165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819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Local / 168 on EC2  ·  All green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10312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03120"/>
            <a:ext cx="73152" cy="68580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2A"/>
                </a:solidFill>
                <a:latin typeface="Calibri"/>
              </a:defRPr>
            </a:pPr>
            <a:r>
              <a:t>26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50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6 demo + 5 stress + 5 Hindi + 5 English + 5 real Bhulekh 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97180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73152" cy="68580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A15F"/>
                </a:solidFill>
                <a:latin typeface="Calibri"/>
              </a:defRPr>
            </a:pPr>
            <a:r>
              <a:t>79–84% 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192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Real Odisha scans · Multi-script pages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84048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840480"/>
            <a:ext cx="73152" cy="685800"/>
          </a:xfrm>
          <a:prstGeom prst="rect">
            <a:avLst/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836"/>
                </a:solidFill>
                <a:latin typeface="Calibri"/>
              </a:defRPr>
            </a:pPr>
            <a:r>
              <a:t>15/15 BYTE-ID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879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Deterministic reruns · No drift (Groq-off core)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70916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09160"/>
            <a:ext cx="73152" cy="685800"/>
          </a:xfrm>
          <a:prstGeom prst="rect">
            <a:avLst/>
          </a:prstGeom>
          <a:solidFill>
            <a:srgbClr val="B4412D"/>
          </a:solidFill>
          <a:ln w="635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412D"/>
                </a:solidFill>
                <a:latin typeface="Calibri"/>
              </a:defRPr>
            </a:pPr>
            <a:r>
              <a:t>&lt; 1 s/RECORD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566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Validation latency · 15–127 s/doc (2 vCPU)</a:t>
            </a:r>
          </a:p>
        </p:txBody>
      </p:sp>
      <p:pic>
        <p:nvPicPr>
          <p:cNvPr id="28" name="Picture 27" descr="sample_01_ro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188720"/>
            <a:ext cx="2011680" cy="3017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57600" y="42519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F2836"/>
                </a:solidFill>
                <a:latin typeface="Calibri"/>
              </a:defRPr>
            </a:pPr>
            <a:r>
              <a:t>REAL DOCUMENT  ·  Odisha RoR (Clean)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1828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88084"/>
                </a:solidFill>
                <a:latin typeface="Calibri"/>
              </a:defRPr>
            </a:pPr>
            <a:r>
              <a:t>District: Khordha  ·  Khasra: 118/2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057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88084"/>
                </a:solidFill>
                <a:latin typeface="Calibri"/>
              </a:defRPr>
            </a:pPr>
            <a:r>
              <a:t>Area: 1.14 acre  ·  Owner: Prafulla Kumar Sahoo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2A"/>
                </a:solidFill>
                <a:latin typeface="Calibri"/>
              </a:defRPr>
            </a:pPr>
            <a:r>
              <a:t>HUMAN-IN-THE-LOOP WORKFLOW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164592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1645920"/>
            <a:ext cx="45720" cy="36576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6916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AI EXTRACTION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84708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D2D7D2"/>
                </a:solidFill>
                <a:latin typeface="Calibri"/>
              </a:defRPr>
            </a:pPr>
            <a:r>
              <a:t>Field confidence calculated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2016252"/>
            <a:ext cx="27432" cy="914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59168" y="2107692"/>
            <a:ext cx="146304" cy="146304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035040" y="214884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35040" y="2148840"/>
            <a:ext cx="45720" cy="36576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21945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CONFIDENCE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3500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D2D7D2"/>
                </a:solidFill>
                <a:latin typeface="Calibri"/>
              </a:defRPr>
            </a:pPr>
            <a:r>
              <a:t>Low &lt; 70% → Mandatory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2519172"/>
            <a:ext cx="27432" cy="914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59168" y="2610612"/>
            <a:ext cx="146304" cy="146304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35040" y="265176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2651760"/>
            <a:ext cx="45720" cy="36576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26974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REVIEWER QUEUE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285292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D2D7D2"/>
                </a:solidFill>
                <a:latin typeface="Calibri"/>
              </a:defRPr>
            </a:pPr>
            <a:r>
              <a:t>Government officer assigned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3022092"/>
            <a:ext cx="27432" cy="914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059168" y="3113532"/>
            <a:ext cx="146304" cy="146304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35040" y="315468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2E7D4B"/>
          </a:solidFill>
          <a:ln w="635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35040" y="3154680"/>
            <a:ext cx="45720" cy="36576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32004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VERIFY / CORRECT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335584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D2D7D2"/>
                </a:solidFill>
                <a:latin typeface="Calibri"/>
              </a:defRPr>
            </a:pPr>
            <a:r>
              <a:t>Evidence shown; corrections captured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0" y="3525012"/>
            <a:ext cx="27432" cy="914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059168" y="3616452"/>
            <a:ext cx="146304" cy="146304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035040" y="365760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B4412D"/>
          </a:solidFill>
          <a:ln w="635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35040" y="3657600"/>
            <a:ext cx="45720" cy="36576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200" y="37033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APPROVE / REJECT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385876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D2D7D2"/>
                </a:solidFill>
                <a:latin typeface="Calibri"/>
              </a:defRPr>
            </a:pPr>
            <a:r>
              <a:t>Server refuses (HTTP 409) if critical open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4027932"/>
            <a:ext cx="27432" cy="9144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059168" y="4119372"/>
            <a:ext cx="146304" cy="146304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035040" y="416052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35040" y="4160520"/>
            <a:ext cx="45720" cy="36576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72200" y="4206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AUDIT LOG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436168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D2D7D2"/>
                </a:solidFill>
                <a:latin typeface="Calibri"/>
              </a:defRPr>
            </a:pPr>
            <a:r>
              <a:t>Old + new value · Hash added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7824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2A"/>
                </a:solidFill>
                <a:latin typeface="Calibri"/>
              </a:defRPr>
            </a:pPr>
            <a:r>
              <a:t>SECURITY  ·  AUDIT  ·  RISK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15400" y="1645920"/>
            <a:ext cx="777240" cy="41148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15400" y="168249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RECORD 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400" y="1865376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BEC8C3"/>
                </a:solidFill>
                <a:latin typeface="Calibri"/>
              </a:defRPr>
            </a:pPr>
            <a:r>
              <a:t>SHA-256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01784" y="1833372"/>
            <a:ext cx="137160" cy="36576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784080" y="1645920"/>
            <a:ext cx="777240" cy="41148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84080" y="168249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RECORD 02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1865376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BEC8C3"/>
                </a:solidFill>
                <a:latin typeface="Calibri"/>
              </a:defRPr>
            </a:pPr>
            <a:r>
              <a:t>Prev Hash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570464" y="1833372"/>
            <a:ext cx="137160" cy="36576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652760" y="1645920"/>
            <a:ext cx="777240" cy="41148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52760" y="168249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RECORD 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52760" y="1865376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BEC8C3"/>
                </a:solidFill>
                <a:latin typeface="Calibri"/>
              </a:defRPr>
            </a:pPr>
            <a:r>
              <a:t>Tamper Detected?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778240" y="2423160"/>
            <a:ext cx="3017520" cy="50292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1540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Every AI decision and every human correction writes one append-only row. Each row stores SHA-256 of previous row — tampering breaks the chain, detectable via verify_chain() (FR-12).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78240" y="3063240"/>
            <a:ext cx="3017520" cy="77724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778240" y="3063240"/>
            <a:ext cx="73152" cy="777240"/>
          </a:xfrm>
          <a:prstGeom prst="rect">
            <a:avLst/>
          </a:prstGeom>
          <a:solidFill>
            <a:srgbClr val="2E7D4B"/>
          </a:solidFill>
          <a:ln w="635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61120" y="313639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4B"/>
                </a:solidFill>
                <a:latin typeface="Calibri"/>
              </a:defRPr>
            </a:pPr>
            <a:r>
              <a:t>RISK: INVENTED DATA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61120" y="3383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Anti-hallucination contracts per doc type (e.g., plot 417 is NOT a khasra; khatiyan 18 is NOT a khata). AI never writes back without reviewer approval.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778240" y="3977640"/>
            <a:ext cx="3017520" cy="77724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778240" y="3977640"/>
            <a:ext cx="73152" cy="777240"/>
          </a:xfrm>
          <a:prstGeom prst="rect">
            <a:avLst/>
          </a:prstGeom>
          <a:solidFill>
            <a:srgbClr val="B4412D"/>
          </a:solidFill>
          <a:ln w="635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61120" y="405079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4412D"/>
                </a:solidFill>
                <a:latin typeface="Calibri"/>
              </a:defRPr>
            </a:pPr>
            <a:r>
              <a:t>RISK: GARBLAGED OCR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61120" y="4297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Script-routed second pass + confidence bands. Any result &lt; 70% is routed to mandatory human review. Zero crashes on adversarial set (36.8% accuracy, 100% routed to review).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IMPACT &amp; BENEFITS  ·  BEFORE → AFTER ·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754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D7D0"/>
                </a:solidFill>
                <a:latin typeface="Calibri"/>
              </a:defRPr>
            </a:pPr>
            <a:r>
              <a:t>Revenue officers · Auditors · Governance · Scalability path · Real impact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EC8C3"/>
                </a:solidFill>
                <a:latin typeface="Calibri"/>
              </a:defRPr>
            </a:pPr>
            <a:r>
              <a:t>SIH 2026  ·  SIH26018  ·  Smart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60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2A"/>
                </a:solidFill>
                <a:latin typeface="Calibri"/>
              </a:defRPr>
            </a:pPr>
            <a:r>
              <a:t>BEFORE  →  AFTER  ·  THE TRANSFORMATION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234440"/>
            <a:ext cx="2377440" cy="402336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4412D"/>
                </a:solidFill>
                <a:latin typeface="Calibri"/>
              </a:defRPr>
            </a:pPr>
            <a:r>
              <a:t>LEGACY PROCESS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737360"/>
            <a:ext cx="137160" cy="137160"/>
          </a:xfrm>
          <a:prstGeom prst="ellipse">
            <a:avLst/>
          </a:prstGeom>
          <a:solidFill>
            <a:srgbClr val="B4412D"/>
          </a:solidFill>
          <a:ln w="1270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88084"/>
                </a:solidFill>
                <a:latin typeface="Calibri"/>
              </a:defRPr>
            </a:pPr>
            <a:r>
              <a:t>Paper registers / handwritten pages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03120"/>
            <a:ext cx="137160" cy="137160"/>
          </a:xfrm>
          <a:prstGeom prst="ellipse">
            <a:avLst/>
          </a:prstGeom>
          <a:solidFill>
            <a:srgbClr val="B4412D"/>
          </a:solidFill>
          <a:ln w="1270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88084"/>
                </a:solidFill>
                <a:latin typeface="Calibri"/>
              </a:defRPr>
            </a:pPr>
            <a:r>
              <a:t>Manual reading &amp; entry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468880"/>
            <a:ext cx="137160" cy="137160"/>
          </a:xfrm>
          <a:prstGeom prst="ellipse">
            <a:avLst/>
          </a:prstGeom>
          <a:solidFill>
            <a:srgbClr val="B4412D"/>
          </a:solidFill>
          <a:ln w="1270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88084"/>
                </a:solidFill>
                <a:latin typeface="Calibri"/>
              </a:defRPr>
            </a:pPr>
            <a:r>
              <a:t>No structured fields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834640"/>
            <a:ext cx="137160" cy="137160"/>
          </a:xfrm>
          <a:prstGeom prst="ellipse">
            <a:avLst/>
          </a:prstGeom>
          <a:solidFill>
            <a:srgbClr val="B4412D"/>
          </a:solidFill>
          <a:ln w="1270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88084"/>
                </a:solidFill>
                <a:latin typeface="Calibri"/>
              </a:defRPr>
            </a:pPr>
            <a:r>
              <a:t>No cross-database check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200400"/>
            <a:ext cx="137160" cy="137160"/>
          </a:xfrm>
          <a:prstGeom prst="ellipse">
            <a:avLst/>
          </a:prstGeom>
          <a:solidFill>
            <a:srgbClr val="B4412D"/>
          </a:solidFill>
          <a:ln w="1270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88084"/>
                </a:solidFill>
                <a:latin typeface="Calibri"/>
              </a:defRPr>
            </a:pPr>
            <a:r>
              <a:t>No GIS verification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566160"/>
            <a:ext cx="137160" cy="137160"/>
          </a:xfrm>
          <a:prstGeom prst="ellipse">
            <a:avLst/>
          </a:prstGeom>
          <a:solidFill>
            <a:srgbClr val="B4412D"/>
          </a:solidFill>
          <a:ln w="1270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88084"/>
                </a:solidFill>
                <a:latin typeface="Calibri"/>
              </a:defRPr>
            </a:pPr>
            <a:r>
              <a:t>No audit trail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3931920"/>
            <a:ext cx="137160" cy="137160"/>
          </a:xfrm>
          <a:prstGeom prst="ellipse">
            <a:avLst/>
          </a:prstGeom>
          <a:solidFill>
            <a:srgbClr val="B4412D"/>
          </a:solidFill>
          <a:ln w="1270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88084"/>
                </a:solidFill>
                <a:latin typeface="Calibri"/>
              </a:defRPr>
            </a:pPr>
            <a:r>
              <a:t>Inconsistent formats across states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297680"/>
            <a:ext cx="137160" cy="137160"/>
          </a:xfrm>
          <a:prstGeom prst="ellipse">
            <a:avLst/>
          </a:prstGeom>
          <a:solidFill>
            <a:srgbClr val="B4412D"/>
          </a:solidFill>
          <a:ln w="12700">
            <a:solidFill>
              <a:srgbClr val="B4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88084"/>
                </a:solidFill>
                <a:latin typeface="Calibri"/>
              </a:defRPr>
            </a:pPr>
            <a:r>
              <a:t>High error rate · Slow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3172968"/>
            <a:ext cx="731520" cy="54864"/>
          </a:xfrm>
          <a:prstGeom prst="roundRect">
            <a:avLst>
              <a:gd name="adj" fmla="val 8000"/>
            </a:avLst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74720" y="3200400"/>
            <a:ext cx="164592" cy="164592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46120" y="1234440"/>
            <a:ext cx="2377440" cy="402336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1325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4B"/>
                </a:solidFill>
                <a:latin typeface="Calibri"/>
              </a:defRPr>
            </a:pPr>
            <a:r>
              <a:t>BHOOMI PROCESS</a:t>
            </a:r>
          </a:p>
        </p:txBody>
      </p:sp>
      <p:sp>
        <p:nvSpPr>
          <p:cNvPr id="30" name="Oval 29"/>
          <p:cNvSpPr/>
          <p:nvPr/>
        </p:nvSpPr>
        <p:spPr>
          <a:xfrm>
            <a:off x="3474720" y="1737360"/>
            <a:ext cx="137160" cy="137160"/>
          </a:xfrm>
          <a:prstGeom prst="ellipse">
            <a:avLst/>
          </a:prstGeom>
          <a:solidFill>
            <a:srgbClr val="2E7D4B"/>
          </a:solidFill>
          <a:ln w="1270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AI OCR / HTR extraction</a:t>
            </a:r>
          </a:p>
        </p:txBody>
      </p:sp>
      <p:sp>
        <p:nvSpPr>
          <p:cNvPr id="32" name="Oval 31"/>
          <p:cNvSpPr/>
          <p:nvPr/>
        </p:nvSpPr>
        <p:spPr>
          <a:xfrm>
            <a:off x="3474720" y="2103120"/>
            <a:ext cx="137160" cy="137160"/>
          </a:xfrm>
          <a:prstGeom prst="ellipse">
            <a:avLst/>
          </a:prstGeom>
          <a:solidFill>
            <a:srgbClr val="2E7D4B"/>
          </a:solidFill>
          <a:ln w="1270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17 structured canonical fields</a:t>
            </a:r>
          </a:p>
        </p:txBody>
      </p:sp>
      <p:sp>
        <p:nvSpPr>
          <p:cNvPr id="34" name="Oval 33"/>
          <p:cNvSpPr/>
          <p:nvPr/>
        </p:nvSpPr>
        <p:spPr>
          <a:xfrm>
            <a:off x="3474720" y="2468880"/>
            <a:ext cx="137160" cy="137160"/>
          </a:xfrm>
          <a:prstGeom prst="ellipse">
            <a:avLst/>
          </a:prstGeom>
          <a:solidFill>
            <a:srgbClr val="2E7D4B"/>
          </a:solidFill>
          <a:ln w="1270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Field-level confidence scoring</a:t>
            </a:r>
          </a:p>
        </p:txBody>
      </p:sp>
      <p:sp>
        <p:nvSpPr>
          <p:cNvPr id="36" name="Oval 35"/>
          <p:cNvSpPr/>
          <p:nvPr/>
        </p:nvSpPr>
        <p:spPr>
          <a:xfrm>
            <a:off x="3474720" y="2834640"/>
            <a:ext cx="137160" cy="137160"/>
          </a:xfrm>
          <a:prstGeom prst="ellipse">
            <a:avLst/>
          </a:prstGeom>
          <a:solidFill>
            <a:srgbClr val="2E7D4B"/>
          </a:solidFill>
          <a:ln w="1270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Automated validation (BR-1…BR-10)</a:t>
            </a:r>
          </a:p>
        </p:txBody>
      </p:sp>
      <p:sp>
        <p:nvSpPr>
          <p:cNvPr id="38" name="Oval 37"/>
          <p:cNvSpPr/>
          <p:nvPr/>
        </p:nvSpPr>
        <p:spPr>
          <a:xfrm>
            <a:off x="3474720" y="3200400"/>
            <a:ext cx="137160" cy="137160"/>
          </a:xfrm>
          <a:prstGeom prst="ellipse">
            <a:avLst/>
          </a:prstGeom>
          <a:solidFill>
            <a:srgbClr val="2E7D4B"/>
          </a:solidFill>
          <a:ln w="1270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GIS cadastral verification</a:t>
            </a:r>
          </a:p>
        </p:txBody>
      </p:sp>
      <p:sp>
        <p:nvSpPr>
          <p:cNvPr id="40" name="Oval 39"/>
          <p:cNvSpPr/>
          <p:nvPr/>
        </p:nvSpPr>
        <p:spPr>
          <a:xfrm>
            <a:off x="3474720" y="3566160"/>
            <a:ext cx="137160" cy="137160"/>
          </a:xfrm>
          <a:prstGeom prst="ellipse">
            <a:avLst/>
          </a:prstGeom>
          <a:solidFill>
            <a:srgbClr val="2E7D4B"/>
          </a:solidFill>
          <a:ln w="1270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33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Government reviewer approval</a:t>
            </a:r>
          </a:p>
        </p:txBody>
      </p:sp>
      <p:sp>
        <p:nvSpPr>
          <p:cNvPr id="42" name="Oval 41"/>
          <p:cNvSpPr/>
          <p:nvPr/>
        </p:nvSpPr>
        <p:spPr>
          <a:xfrm>
            <a:off x="3474720" y="3931920"/>
            <a:ext cx="137160" cy="137160"/>
          </a:xfrm>
          <a:prstGeom prst="ellipse">
            <a:avLst/>
          </a:prstGeom>
          <a:solidFill>
            <a:srgbClr val="2E7D4B"/>
          </a:solidFill>
          <a:ln w="1270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Immutable SHA-256 audit chain</a:t>
            </a:r>
          </a:p>
        </p:txBody>
      </p:sp>
      <p:sp>
        <p:nvSpPr>
          <p:cNvPr id="44" name="Oval 43"/>
          <p:cNvSpPr/>
          <p:nvPr/>
        </p:nvSpPr>
        <p:spPr>
          <a:xfrm>
            <a:off x="3474720" y="4297680"/>
            <a:ext cx="137160" cy="137160"/>
          </a:xfrm>
          <a:prstGeom prst="ellipse">
            <a:avLst/>
          </a:prstGeom>
          <a:solidFill>
            <a:srgbClr val="2E7D4B"/>
          </a:solidFill>
          <a:ln w="1270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332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326"/>
                </a:solidFill>
                <a:latin typeface="Calibri"/>
              </a:defRPr>
            </a:pPr>
            <a:r>
              <a:t>Searchable · Exportable · Auditable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960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2A"/>
                </a:solidFill>
                <a:latin typeface="Calibri"/>
              </a:defRPr>
            </a:pPr>
            <a:r>
              <a:t>IMPACT DIMENSIONS  ·  SCALABILITY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1371600"/>
            <a:ext cx="54864" cy="137160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14813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2A"/>
                </a:solidFill>
                <a:latin typeface="Calibri"/>
              </a:defRPr>
            </a:pPr>
            <a:r>
              <a:t>REVENUE OFFICERS</a:t>
            </a:r>
          </a:p>
        </p:txBody>
      </p:sp>
      <p:sp>
        <p:nvSpPr>
          <p:cNvPr id="50" name="Oval 49"/>
          <p:cNvSpPr/>
          <p:nvPr/>
        </p:nvSpPr>
        <p:spPr>
          <a:xfrm>
            <a:off x="6126480" y="1783080"/>
            <a:ext cx="320040" cy="320040"/>
          </a:xfrm>
          <a:prstGeom prst="ellipse">
            <a:avLst/>
          </a:prstGeom>
          <a:solidFill>
            <a:srgbClr val="1B3A2A"/>
          </a:solidFill>
          <a:ln w="1270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Reviewer queue · One-click corrections captured as training data · Approve/reject/escalate with full evidence.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86800" y="1371600"/>
            <a:ext cx="54864" cy="1371600"/>
          </a:xfrm>
          <a:prstGeom prst="rect">
            <a:avLst/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14813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AUDITORS &amp; SUPERVISORS</a:t>
            </a:r>
          </a:p>
        </p:txBody>
      </p:sp>
      <p:sp>
        <p:nvSpPr>
          <p:cNvPr id="56" name="Oval 55"/>
          <p:cNvSpPr/>
          <p:nvPr/>
        </p:nvSpPr>
        <p:spPr>
          <a:xfrm>
            <a:off x="8869680" y="1783080"/>
            <a:ext cx="320040" cy="320040"/>
          </a:xfrm>
          <a:prstGeom prst="ellipse">
            <a:avLst/>
          </a:prstGeom>
          <a:solidFill>
            <a:srgbClr val="0F2836"/>
          </a:solidFill>
          <a:ln w="1270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Tamper-evident hash-chained trail · MIS dashboard (accuracy, pendency, errors, state-wise) · CSV export.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0" y="3017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43600" y="3017520"/>
            <a:ext cx="54864" cy="1371600"/>
          </a:xfrm>
          <a:prstGeom prst="rect">
            <a:avLst/>
          </a:prstGeom>
          <a:solidFill>
            <a:srgbClr val="2E7D4B"/>
          </a:solidFill>
          <a:ln w="635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3127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4B"/>
                </a:solidFill>
                <a:latin typeface="Calibri"/>
              </a:defRPr>
            </a:pPr>
            <a:r>
              <a:t>ADMINISTRATION</a:t>
            </a:r>
          </a:p>
        </p:txBody>
      </p:sp>
      <p:sp>
        <p:nvSpPr>
          <p:cNvPr id="62" name="Oval 61"/>
          <p:cNvSpPr/>
          <p:nvPr/>
        </p:nvSpPr>
        <p:spPr>
          <a:xfrm>
            <a:off x="6126480" y="3429000"/>
            <a:ext cx="320040" cy="320040"/>
          </a:xfrm>
          <a:prstGeom prst="ellipse">
            <a:avLst/>
          </a:prstGeom>
          <a:solidFill>
            <a:srgbClr val="2E7D4B"/>
          </a:solidFill>
          <a:ln w="12700">
            <a:solidFill>
              <a:srgbClr val="2E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80" y="3429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Digitization % tracked live · Review completion rates · Discrepancies flagged, never silently resolved.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86800" y="3017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686800" y="3017520"/>
            <a:ext cx="54864" cy="137160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69680" y="3127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A15F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68" name="Oval 67"/>
          <p:cNvSpPr/>
          <p:nvPr/>
        </p:nvSpPr>
        <p:spPr>
          <a:xfrm>
            <a:off x="8869680" y="3429000"/>
            <a:ext cx="320040" cy="320040"/>
          </a:xfrm>
          <a:prstGeom prst="ellipse">
            <a:avLst/>
          </a:prstGeom>
          <a:solidFill>
            <a:srgbClr val="BFA15F"/>
          </a:solidFill>
          <a:ln w="1270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69680" y="3429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Reliable digital records from legacy pages · Multilingual access · Transparent, data-driven land administration.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4754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836"/>
                </a:solidFill>
                <a:latin typeface="Calibri"/>
              </a:defRPr>
            </a:pPr>
            <a:r>
              <a:t>SCALABILITY PATH  ·  PROTOTYPE → PRODUCTION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43600" y="5074920"/>
            <a:ext cx="1188720" cy="6400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43600" y="5074920"/>
            <a:ext cx="1188720" cy="457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0" y="51846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83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3600" y="5394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Prototype · 26 docs · SQLite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223760" y="5074920"/>
            <a:ext cx="1188720" cy="6400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23760" y="5074920"/>
            <a:ext cx="1188720" cy="457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23760" y="51846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83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60" y="5394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District Pilot · Live adapters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03920" y="5074920"/>
            <a:ext cx="1188720" cy="6400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503920" y="5074920"/>
            <a:ext cx="1188720" cy="457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03920" y="51846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83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5394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Government Integration · PostGIS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784080" y="5074920"/>
            <a:ext cx="1188720" cy="6400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784080" y="5074920"/>
            <a:ext cx="1188720" cy="457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84080" y="51846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83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84080" y="5394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Multi-district · Multi-state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RESEARCH  ·  REFERENCES  ·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754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D7D0"/>
                </a:solidFill>
                <a:latin typeface="Calibri"/>
              </a:defRPr>
            </a:pPr>
            <a:r>
              <a:t>Verified sources · Adapter contracts · Production swap path · Next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EC8C3"/>
                </a:solidFill>
                <a:latin typeface="Calibri"/>
              </a:defRPr>
            </a:pPr>
            <a:r>
              <a:t>SIH 2026  ·  SIH26018  ·  Smart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60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2A"/>
                </a:solidFill>
                <a:latin typeface="Calibri"/>
              </a:defRPr>
            </a:pPr>
            <a:r>
              <a:t>REFERENCES &amp;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2588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4864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8074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SIH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8191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88084"/>
                </a:solidFill>
                <a:latin typeface="Calibri"/>
              </a:defRPr>
            </a:pPr>
            <a:r>
              <a:t>SIH26018 · Ministry of Rural Development · Smart Automation Theme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6596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965960"/>
            <a:ext cx="54864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2082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CODE &amp;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2199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88084"/>
                </a:solidFill>
                <a:latin typeface="Calibri"/>
              </a:defRPr>
            </a:pPr>
            <a:r>
              <a:t>github.com/fresherscomputersc-hash/BHOOMI · FastAPI · SQLAlchemy · Vanilla 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60604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606040"/>
            <a:ext cx="54864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6090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DOCUMENT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86207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88084"/>
                </a:solidFill>
                <a:latin typeface="Calibri"/>
              </a:defRPr>
            </a:pPr>
            <a:r>
              <a:t>OpenCV · Tesseract 5.5 · spaCy NER · Hugging Face XLM-R · TrOCR (trialed)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24612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246120"/>
            <a:ext cx="54864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30098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GIS &amp; CADASTRAL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0215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88084"/>
                </a:solidFill>
                <a:latin typeface="Calibri"/>
              </a:defRPr>
            </a:pPr>
            <a:r>
              <a:t>Shapely · Sample GeoJSON layer · BhuNaksha integration (adapter-ready)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388620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886200"/>
            <a:ext cx="54864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4106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GOVERNMENT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14223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88084"/>
                </a:solidFill>
                <a:latin typeface="Calibri"/>
              </a:defRPr>
            </a:pPr>
            <a:r>
              <a:t>Bhulekh / RoR · BhuNaksha · IGR · LGD · DILRMP / LRMS — mock adapters, live-ready contracts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452628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526280"/>
            <a:ext cx="54864" cy="5029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58114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SECURITY &amp;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78231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88084"/>
                </a:solidFill>
                <a:latin typeface="Calibri"/>
              </a:defRPr>
            </a:pPr>
            <a:r>
              <a:t>SHA-256 chain · Argon2 hashing · RBAC · Audit trail with re-verify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960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2A"/>
                </a:solidFill>
                <a:latin typeface="Calibri"/>
              </a:defRPr>
            </a:pPr>
            <a:r>
              <a:t>GOVERNMENT ADAPTER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1920240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2057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BHOOMI ADAPTER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2402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8D2CD"/>
                </a:solidFill>
                <a:latin typeface="Calibri"/>
              </a:defRPr>
            </a:pPr>
            <a:r>
              <a:t>Live-ready contracts · Mock data now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269748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0" y="2697480"/>
            <a:ext cx="45720" cy="365760"/>
          </a:xfrm>
          <a:prstGeom prst="rect">
            <a:avLst/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2871216"/>
            <a:ext cx="548640" cy="1828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2743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F2836"/>
                </a:solidFill>
                <a:latin typeface="Calibri"/>
              </a:defRPr>
            </a:pPr>
            <a:r>
              <a:t>BHULEKH / RoR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743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788084"/>
                </a:solidFill>
                <a:latin typeface="Calibri"/>
              </a:defRPr>
            </a:pPr>
            <a:r>
              <a:t>MOCK  ·  LIVE CONTRACT READY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289864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Ownership verification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320040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0" y="3200400"/>
            <a:ext cx="45720" cy="365760"/>
          </a:xfrm>
          <a:prstGeom prst="rect">
            <a:avLst/>
          </a:prstGeom>
          <a:solidFill>
            <a:srgbClr val="0F2836"/>
          </a:solidFill>
          <a:ln w="6350">
            <a:solidFill>
              <a:srgbClr val="0F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374136"/>
            <a:ext cx="548640" cy="1828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32461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F2836"/>
                </a:solidFill>
                <a:latin typeface="Calibri"/>
              </a:defRPr>
            </a:pPr>
            <a:r>
              <a:t>BHU NAKSHA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2461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788084"/>
                </a:solidFill>
                <a:latin typeface="Calibri"/>
              </a:defRPr>
            </a:pPr>
            <a:r>
              <a:t>MOCK  ·  LIVE CONTRACT READY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340156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Cadastral map reference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0" y="370332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703320"/>
            <a:ext cx="45720" cy="36576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3877056"/>
            <a:ext cx="548640" cy="1828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3749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A2A"/>
                </a:solidFill>
                <a:latin typeface="Calibri"/>
              </a:defRPr>
            </a:pPr>
            <a:r>
              <a:t>IGR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3749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788084"/>
                </a:solidFill>
                <a:latin typeface="Calibri"/>
              </a:defRPr>
            </a:pPr>
            <a:r>
              <a:t>MOCK  ·  LIVE CONTRACT READY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390448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Registration / deed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0" y="420624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0" y="4206240"/>
            <a:ext cx="45720" cy="365760"/>
          </a:xfrm>
          <a:prstGeom prst="rect">
            <a:avLst/>
          </a:prstGeom>
          <a:solidFill>
            <a:srgbClr val="1B3A2A"/>
          </a:solidFill>
          <a:ln w="635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4379976"/>
            <a:ext cx="548640" cy="1828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0" y="42519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A2A"/>
                </a:solidFill>
                <a:latin typeface="Calibri"/>
              </a:defRPr>
            </a:pPr>
            <a:r>
              <a:t>LRMS / DILRMP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42519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788084"/>
                </a:solidFill>
                <a:latin typeface="Calibri"/>
              </a:defRPr>
            </a:pPr>
            <a:r>
              <a:t>MOCK  ·  LIVE CONTRACT READY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44074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Downstream status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0" y="470916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0" y="4709160"/>
            <a:ext cx="45720" cy="36576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4882896"/>
            <a:ext cx="548640" cy="1828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12080" y="47548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FA15F"/>
                </a:solidFill>
                <a:latin typeface="Calibri"/>
              </a:defRPr>
            </a:pPr>
            <a:r>
              <a:t>LGD MASTER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47548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788084"/>
                </a:solidFill>
                <a:latin typeface="Calibri"/>
              </a:defRPr>
            </a:pPr>
            <a:r>
              <a:t>MOCK  ·  LIVE CONTRACT READY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80" y="491032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Village / tehsil check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3840" y="960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2A"/>
                </a:solidFill>
                <a:latin typeface="Calibri"/>
              </a:defRPr>
            </a:pPr>
            <a:r>
              <a:t>PRODUCTION SWAP  ·  ROADMAP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63840" y="1325880"/>
            <a:ext cx="3657600" cy="384048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863840" y="1325880"/>
            <a:ext cx="54864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2440" y="1371600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SQLite → PostgreSQL + PostGIS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863840" y="1828800"/>
            <a:ext cx="3657600" cy="384048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863840" y="1828800"/>
            <a:ext cx="54864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92440" y="1874520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QUEUE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18320" y="1874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In-process → Redis / Celery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863840" y="2331720"/>
            <a:ext cx="3657600" cy="384048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863840" y="2331720"/>
            <a:ext cx="54864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2377440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HTR ENGINE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1832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Tesseract → TrOCR / IndicHTR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63840" y="2834640"/>
            <a:ext cx="3657600" cy="384048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863840" y="2834640"/>
            <a:ext cx="54864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92440" y="2880360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LAYOUT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18320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OpenCV heuristics → YOLO / Detectron2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63840" y="3337560"/>
            <a:ext cx="3657600" cy="384048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863840" y="3337560"/>
            <a:ext cx="54864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92440" y="3383280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1832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Seeded + Argon2 → Department SSO + MFA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863840" y="3840480"/>
            <a:ext cx="3657600" cy="384048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63840" y="3840480"/>
            <a:ext cx="54864" cy="384048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92440" y="3886200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836"/>
                </a:solidFill>
                <a:latin typeface="Calibri"/>
              </a:defRPr>
            </a:pPr>
            <a:r>
              <a:t>GIS SERVING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1832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2326"/>
                </a:solidFill>
                <a:latin typeface="Calibri"/>
              </a:defRPr>
            </a:pPr>
            <a:r>
              <a:t>Sample GeoJSON → GeoServer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63840" y="4434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836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92" name="Oval 91"/>
          <p:cNvSpPr/>
          <p:nvPr/>
        </p:nvSpPr>
        <p:spPr>
          <a:xfrm>
            <a:off x="8229599" y="4709160"/>
            <a:ext cx="320040" cy="320040"/>
          </a:xfrm>
          <a:prstGeom prst="ellipse">
            <a:avLst/>
          </a:prstGeom>
          <a:solidFill>
            <a:srgbClr val="1B3A2A"/>
          </a:solidFill>
          <a:ln w="1270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9599" y="47548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55279" y="5120640"/>
            <a:ext cx="868680" cy="6400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55279" y="5148072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283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55279" y="53492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Prototype  ·  26 docs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842247" y="4846320"/>
            <a:ext cx="91440" cy="457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143999" y="4709160"/>
            <a:ext cx="320040" cy="320040"/>
          </a:xfrm>
          <a:prstGeom prst="ellipse">
            <a:avLst/>
          </a:prstGeom>
          <a:solidFill>
            <a:srgbClr val="1B3A2A"/>
          </a:solidFill>
          <a:ln w="1270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143999" y="47548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869679" y="5120640"/>
            <a:ext cx="868680" cy="6400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69679" y="5148072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283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69679" y="53492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District Pilot  ·  Live adapters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56647" y="4846320"/>
            <a:ext cx="91440" cy="457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058399" y="4709160"/>
            <a:ext cx="320040" cy="320040"/>
          </a:xfrm>
          <a:prstGeom prst="ellipse">
            <a:avLst/>
          </a:prstGeom>
          <a:solidFill>
            <a:srgbClr val="1B3A2A"/>
          </a:solidFill>
          <a:ln w="1270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58399" y="47548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784079" y="5120640"/>
            <a:ext cx="868680" cy="6400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784079" y="5148072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283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784079" y="53492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Govt Integration  ·  PostGIS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671047" y="4846320"/>
            <a:ext cx="91440" cy="45720"/>
          </a:xfrm>
          <a:prstGeom prst="rect">
            <a:avLst/>
          </a:prstGeom>
          <a:solidFill>
            <a:srgbClr val="BFA15F"/>
          </a:solidFill>
          <a:ln w="6350">
            <a:solidFill>
              <a:srgbClr val="BFA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972799" y="4709160"/>
            <a:ext cx="320040" cy="320040"/>
          </a:xfrm>
          <a:prstGeom prst="ellipse">
            <a:avLst/>
          </a:prstGeom>
          <a:solidFill>
            <a:srgbClr val="1B3A2A"/>
          </a:solidFill>
          <a:ln w="12700">
            <a:solidFill>
              <a:srgbClr val="1B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972799" y="47548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698479" y="5120640"/>
            <a:ext cx="868680" cy="640080"/>
          </a:xfrm>
          <a:prstGeom prst="roundRect">
            <a:avLst>
              <a:gd name="adj" fmla="val 8000"/>
            </a:avLst>
          </a:prstGeom>
          <a:solidFill>
            <a:srgbClr val="F0F5F0"/>
          </a:solidFill>
          <a:ln w="6350">
            <a:solidFill>
              <a:srgbClr val="F0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698479" y="5148072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283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698479" y="53492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8084"/>
                </a:solidFill>
                <a:latin typeface="Calibri"/>
              </a:defRPr>
            </a:pPr>
            <a:r>
              <a:t>Multi-state Scale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0040" y="63550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88084"/>
                </a:solidFill>
                <a:latin typeface="Calibri"/>
              </a:defRPr>
            </a:pPr>
            <a:r>
              <a:t>BhuVerify is decision support — it does not adjudicate disputes, change ownership, or write back to government systems without formal approval. Every claim backed by repository evidence (tests, code, demo data, measured metrics).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